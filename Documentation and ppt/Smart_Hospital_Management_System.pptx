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61" r:id="rId2"/>
    <p:sldId id="265" r:id="rId3"/>
    <p:sldId id="266" r:id="rId4"/>
    <p:sldId id="279" r:id="rId5"/>
    <p:sldId id="267" r:id="rId6"/>
    <p:sldId id="268" r:id="rId7"/>
    <p:sldId id="280" r:id="rId8"/>
    <p:sldId id="269" r:id="rId9"/>
    <p:sldId id="281" r:id="rId10"/>
    <p:sldId id="284" r:id="rId11"/>
    <p:sldId id="285" r:id="rId12"/>
    <p:sldId id="286" r:id="rId13"/>
    <p:sldId id="287" r:id="rId14"/>
    <p:sldId id="273" r:id="rId15"/>
    <p:sldId id="283" r:id="rId16"/>
    <p:sldId id="282" r:id="rId17"/>
    <p:sldId id="275" r:id="rId18"/>
    <p:sldId id="26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6102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2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6A79-D85F-4D25-B5FC-3B5D6704A7FD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A358-1224-4AAF-A557-330CB2F189CB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0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6A79-D85F-4D25-B5FC-3B5D6704A7FD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A358-1224-4AAF-A557-330CB2F189C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5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6A79-D85F-4D25-B5FC-3B5D6704A7FD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A358-1224-4AAF-A557-330CB2F189CB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975360" y="4599432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6A79-D85F-4D25-B5FC-3B5D6704A7FD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A358-1224-4AAF-A557-330CB2F189C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6A79-D85F-4D25-B5FC-3B5D6704A7FD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A358-1224-4AAF-A557-330CB2F189CB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3741949" y="4045691"/>
            <a:ext cx="4709160" cy="105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6A79-D85F-4D25-B5FC-3B5D6704A7FD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A358-1224-4AAF-A557-330CB2F189C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6A79-D85F-4D25-B5FC-3B5D6704A7FD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A358-1224-4AAF-A557-330CB2F189C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3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6A79-D85F-4D25-B5FC-3B5D6704A7FD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A358-1224-4AAF-A557-330CB2F189C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912152" y="3579942"/>
            <a:ext cx="5577840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6A79-D85F-4D25-B5FC-3B5D6704A7FD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A358-1224-4AAF-A557-330CB2F189C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6A79-D85F-4D25-B5FC-3B5D6704A7FD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A358-1224-4AAF-A557-330CB2F189C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6A79-D85F-4D25-B5FC-3B5D6704A7FD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A358-1224-4AAF-A557-330CB2F189C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8288"/>
            <a:ext cx="3860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413A6A79-D85F-4D25-B5FC-3B5D6704A7FD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828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18288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9B3DA358-1224-4AAF-A557-330CB2F189CB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llareddyuniversity.ac.i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7DFAB-946D-4828-BEB0-01F20722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97" y="97654"/>
            <a:ext cx="12014522" cy="6661960"/>
          </a:xfrm>
        </p:spPr>
        <p:txBody>
          <a:bodyPr>
            <a:normAutofit/>
          </a:bodyPr>
          <a:lstStyle/>
          <a:p>
            <a:pPr marR="441960">
              <a:spcBef>
                <a:spcPts val="445"/>
              </a:spcBef>
              <a:spcAft>
                <a:spcPts val="0"/>
              </a:spcAft>
            </a:pPr>
            <a:r>
              <a:rPr lang="en-US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                                      			</a:t>
            </a:r>
            <a:br>
              <a:rPr lang="en-IN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br>
              <a:rPr lang="en-IN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IN" sz="2000" b="1" cap="none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                             		   </a:t>
            </a:r>
            <a:br>
              <a:rPr lang="en-IN" sz="2000" b="1" cap="none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				</a:t>
            </a:r>
            <a:r>
              <a:rPr lang="en-US" sz="1800" b="1" cap="non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 of Computer Science 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sz="1800" b="1" cap="non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Engineering</a:t>
            </a:r>
            <a:br>
              <a:rPr lang="en-US" sz="1800" b="1" cap="non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 Hospital Management System</a:t>
            </a:r>
            <a:br>
              <a:rPr lang="en-US" sz="1800" b="1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b="1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br>
              <a:rPr lang="en-IN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		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			1.  CH. SREE VATSAV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			2. C.RITHIK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					3.ASAR.ABUZAR</a:t>
            </a:r>
            <a:b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b="1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7005" y="570229"/>
            <a:ext cx="6777990" cy="1145540"/>
          </a:xfrm>
          <a:prstGeom prst="rect">
            <a:avLst/>
          </a:prstGeom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564022" y="1429198"/>
            <a:ext cx="2753995" cy="357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6350" marR="6350" algn="ctr">
              <a:lnSpc>
                <a:spcPct val="115000"/>
              </a:lnSpc>
              <a:spcAft>
                <a:spcPts val="0"/>
              </a:spcAft>
            </a:pPr>
            <a:r>
              <a:rPr lang="en-IN" sz="950" spc="-5" dirty="0">
                <a:effectLst/>
                <a:latin typeface="Calibri"/>
                <a:ea typeface="Calibri"/>
                <a:cs typeface="Times New Roman"/>
              </a:rPr>
              <a:t>(</a:t>
            </a:r>
            <a:r>
              <a:rPr lang="en-IN" sz="900" b="1" spc="-5" dirty="0" err="1">
                <a:effectLst/>
                <a:latin typeface="Calibri"/>
                <a:ea typeface="Calibri"/>
                <a:cs typeface="Times New Roman"/>
              </a:rPr>
              <a:t>Telangana</a:t>
            </a:r>
            <a:r>
              <a:rPr lang="en-IN" sz="900" b="1" spc="-10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State</a:t>
            </a:r>
            <a:r>
              <a:rPr lang="en-IN" sz="900" b="1" spc="-30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Private</a:t>
            </a:r>
            <a:r>
              <a:rPr lang="en-IN" sz="900" b="1" spc="-50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Universities</a:t>
            </a:r>
            <a:r>
              <a:rPr lang="en-IN" sz="900" b="1" spc="-5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Act</a:t>
            </a:r>
            <a:r>
              <a:rPr lang="en-IN" sz="900" b="1" spc="-45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No.</a:t>
            </a:r>
            <a:r>
              <a:rPr lang="en-IN" sz="900" b="1" spc="-10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13</a:t>
            </a:r>
            <a:r>
              <a:rPr lang="en-IN" sz="900" b="1" spc="-30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of</a:t>
            </a:r>
            <a:r>
              <a:rPr lang="en-IN" sz="900" b="1" spc="-40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2020</a:t>
            </a:r>
            <a:r>
              <a:rPr lang="en-IN" sz="900" b="1" spc="-20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&amp;</a:t>
            </a:r>
            <a:endParaRPr lang="en-IN" sz="1100" dirty="0">
              <a:effectLst/>
              <a:latin typeface="Calibri"/>
              <a:ea typeface="Calibri"/>
              <a:cs typeface="Times New Roman"/>
            </a:endParaRPr>
          </a:p>
          <a:p>
            <a:pPr marL="5715" marR="6350" algn="ctr">
              <a:lnSpc>
                <a:spcPct val="115000"/>
              </a:lnSpc>
              <a:spcBef>
                <a:spcPts val="5"/>
              </a:spcBef>
              <a:spcAft>
                <a:spcPts val="0"/>
              </a:spcAft>
            </a:pP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G.O.Ms.</a:t>
            </a:r>
            <a:r>
              <a:rPr lang="en-IN" sz="900" b="1" spc="-45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No.</a:t>
            </a:r>
            <a:r>
              <a:rPr lang="en-IN" sz="900" b="1" spc="-25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14,</a:t>
            </a:r>
            <a:r>
              <a:rPr lang="en-IN" sz="900" b="1" spc="-50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Higher</a:t>
            </a:r>
            <a:r>
              <a:rPr lang="en-IN" sz="900" b="1" spc="-40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Education</a:t>
            </a:r>
            <a:r>
              <a:rPr lang="en-IN" sz="900" b="1" spc="-10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(UE)</a:t>
            </a:r>
            <a:r>
              <a:rPr lang="en-IN" sz="900" b="1" spc="-45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Department</a:t>
            </a:r>
            <a:r>
              <a:rPr lang="en-IN" sz="950" dirty="0">
                <a:effectLst/>
                <a:latin typeface="Calibri"/>
                <a:ea typeface="Calibri"/>
                <a:cs typeface="Times New Roman"/>
              </a:rPr>
              <a:t>)</a:t>
            </a:r>
            <a:endParaRPr lang="en-IN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7685158" y="906650"/>
            <a:ext cx="1440180" cy="753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12700" marR="5080">
              <a:lnSpc>
                <a:spcPct val="92000"/>
              </a:lnSpc>
              <a:spcAft>
                <a:spcPts val="1000"/>
              </a:spcAft>
            </a:pPr>
            <a:r>
              <a:rPr lang="en-IN" sz="950" b="1" dirty="0" err="1">
                <a:effectLst/>
                <a:latin typeface="Calibri"/>
                <a:ea typeface="Calibri"/>
                <a:cs typeface="Times New Roman"/>
              </a:rPr>
              <a:t>Maisammaguda</a:t>
            </a:r>
            <a:r>
              <a:rPr lang="en-IN" sz="950" b="1" dirty="0">
                <a:effectLst/>
                <a:latin typeface="Calibri"/>
                <a:ea typeface="Calibri"/>
                <a:cs typeface="Times New Roman"/>
              </a:rPr>
              <a:t>, </a:t>
            </a:r>
            <a:r>
              <a:rPr lang="en-IN" sz="950" b="1" dirty="0" err="1">
                <a:effectLst/>
                <a:latin typeface="Calibri"/>
                <a:ea typeface="Calibri"/>
                <a:cs typeface="Times New Roman"/>
              </a:rPr>
              <a:t>Kompally</a:t>
            </a:r>
            <a:r>
              <a:rPr lang="en-IN" sz="950" b="1" dirty="0">
                <a:effectLst/>
                <a:latin typeface="Calibri"/>
                <a:ea typeface="Calibri"/>
                <a:cs typeface="Times New Roman"/>
              </a:rPr>
              <a:t>,</a:t>
            </a:r>
            <a:r>
              <a:rPr lang="en-IN" sz="950" b="1" spc="5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50" b="1" dirty="0" err="1">
                <a:effectLst/>
                <a:latin typeface="Calibri"/>
                <a:ea typeface="Calibri"/>
                <a:cs typeface="Times New Roman"/>
              </a:rPr>
              <a:t>Medchal</a:t>
            </a:r>
            <a:r>
              <a:rPr lang="en-IN" sz="950" b="1" spc="-20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50" b="1" dirty="0">
                <a:effectLst/>
                <a:latin typeface="Calibri"/>
                <a:ea typeface="Calibri"/>
                <a:cs typeface="Times New Roman"/>
              </a:rPr>
              <a:t>-</a:t>
            </a:r>
            <a:r>
              <a:rPr lang="en-IN" sz="950" b="1" spc="-5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50" b="1" dirty="0" err="1">
                <a:effectLst/>
                <a:latin typeface="Calibri"/>
                <a:ea typeface="Calibri"/>
                <a:cs typeface="Times New Roman"/>
              </a:rPr>
              <a:t>Malkajgiri</a:t>
            </a:r>
            <a:r>
              <a:rPr lang="en-IN" sz="950" b="1" spc="-35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50" b="1" dirty="0">
                <a:effectLst/>
                <a:latin typeface="Calibri"/>
                <a:ea typeface="Calibri"/>
                <a:cs typeface="Times New Roman"/>
              </a:rPr>
              <a:t>District</a:t>
            </a:r>
            <a:r>
              <a:rPr lang="en-IN" sz="950" b="1" spc="-200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50" b="1" dirty="0">
                <a:effectLst/>
                <a:latin typeface="Calibri"/>
                <a:ea typeface="Calibri"/>
                <a:cs typeface="Times New Roman"/>
              </a:rPr>
              <a:t>Hyderabad - 500100,</a:t>
            </a:r>
            <a:r>
              <a:rPr lang="en-IN" sz="950" b="1" spc="5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50" b="1" dirty="0" err="1">
                <a:effectLst/>
                <a:latin typeface="Calibri"/>
                <a:ea typeface="Calibri"/>
                <a:cs typeface="Times New Roman"/>
              </a:rPr>
              <a:t>Telangana</a:t>
            </a:r>
            <a:r>
              <a:rPr lang="en-IN" sz="950" b="1" spc="5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50" b="1" dirty="0">
                <a:effectLst/>
                <a:latin typeface="Calibri"/>
                <a:ea typeface="Calibri"/>
                <a:cs typeface="Times New Roman"/>
              </a:rPr>
              <a:t>State</a:t>
            </a:r>
            <a:r>
              <a:rPr lang="en-IN" sz="950" b="1" u="none" strike="noStrike" dirty="0">
                <a:effectLst/>
                <a:latin typeface="Calibri"/>
                <a:ea typeface="Calibri"/>
                <a:cs typeface="Times New Roman"/>
                <a:hlinkClick r:id="rId3"/>
              </a:rPr>
              <a:t>.</a:t>
            </a:r>
            <a:r>
              <a:rPr lang="en-IN" sz="950" b="1" spc="5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50" b="1" u="none" strike="noStrike" dirty="0">
                <a:effectLst/>
                <a:latin typeface="Calibri"/>
                <a:ea typeface="Calibri"/>
                <a:cs typeface="Times New Roman"/>
                <a:hlinkClick r:id="rId3"/>
              </a:rPr>
              <a:t>www.mallareddyuniversity.</a:t>
            </a:r>
            <a:endParaRPr lang="en-IN" sz="1100" dirty="0">
              <a:effectLst/>
              <a:latin typeface="Calibri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64838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2009984" y="1332208"/>
            <a:ext cx="9404465" cy="4992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IN" dirty="0"/>
              <a:t>Introduction</a:t>
            </a:r>
          </a:p>
          <a:p>
            <a:pPr marL="285750" indent="-285750">
              <a:lnSpc>
                <a:spcPct val="200000"/>
              </a:lnSpc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IN" dirty="0"/>
              <a:t>Literature Review</a:t>
            </a:r>
          </a:p>
          <a:p>
            <a:pPr marL="285750" indent="-285750">
              <a:lnSpc>
                <a:spcPct val="200000"/>
              </a:lnSpc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IN" dirty="0"/>
              <a:t>Problem Statement</a:t>
            </a:r>
          </a:p>
          <a:p>
            <a:pPr marL="285750" indent="-285750">
              <a:lnSpc>
                <a:spcPct val="200000"/>
              </a:lnSpc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IN" dirty="0"/>
              <a:t>Objectives</a:t>
            </a:r>
          </a:p>
          <a:p>
            <a:pPr marL="285750" indent="-285750">
              <a:lnSpc>
                <a:spcPct val="200000"/>
              </a:lnSpc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IN" dirty="0"/>
              <a:t>Methodology</a:t>
            </a:r>
          </a:p>
          <a:p>
            <a:pPr marL="285750" indent="-285750">
              <a:lnSpc>
                <a:spcPct val="200000"/>
              </a:lnSpc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IN" dirty="0"/>
              <a:t>Implementation</a:t>
            </a:r>
          </a:p>
          <a:p>
            <a:pPr marL="285750" indent="-285750">
              <a:lnSpc>
                <a:spcPct val="200000"/>
              </a:lnSpc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IN" dirty="0"/>
              <a:t>Results</a:t>
            </a:r>
          </a:p>
          <a:p>
            <a:pPr marL="285750" indent="-285750">
              <a:lnSpc>
                <a:spcPct val="200000"/>
              </a:lnSpc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IN" dirty="0"/>
              <a:t>Conclusion</a:t>
            </a:r>
          </a:p>
          <a:p>
            <a:pPr marL="285750" indent="-285750">
              <a:lnSpc>
                <a:spcPct val="200000"/>
              </a:lnSpc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IN" dirty="0"/>
              <a:t>Future Scope</a:t>
            </a:r>
          </a:p>
          <a:p>
            <a:pPr marL="285750" indent="-285750">
              <a:lnSpc>
                <a:spcPct val="200000"/>
              </a:lnSpc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IN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599880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99D64-1589-914C-00E0-569C51F7C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Introduction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2596D-947F-2477-5954-8A9FDCCCC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Smart Hospital Management System is a web-based application developed using Spring Boot, MySQL, HTML, CSS, JavaScript, and Thymeleaf.</a:t>
            </a:r>
          </a:p>
          <a:p>
            <a:endParaRPr lang="en-US" dirty="0"/>
          </a:p>
          <a:p>
            <a:r>
              <a:rPr lang="en-US" dirty="0"/>
              <a:t>It helps hospitals manage patient records, doctor information, appointments, prescriptions, and billing through a secure digital platform.</a:t>
            </a:r>
          </a:p>
          <a:p>
            <a:endParaRPr lang="en-US" dirty="0"/>
          </a:p>
          <a:p>
            <a:r>
              <a:rPr lang="en-US" dirty="0"/>
              <a:t>The system reduces paperwork, improves efficiency, and provides better healthcare services.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7782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99D64-1589-914C-00E0-569C51F7C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Literature Review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2596D-947F-2477-5954-8A9FDCCCC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Existing hospital management systems mainly focus on storing patient records and appointment scheduling.</a:t>
            </a:r>
          </a:p>
          <a:p>
            <a:endParaRPr lang="en-US" dirty="0"/>
          </a:p>
          <a:p>
            <a:r>
              <a:rPr lang="en-US" dirty="0"/>
              <a:t>Many traditional systems still rely on manual paperwork, which causes delays, errors, and difficulty in managing hospital data.</a:t>
            </a:r>
          </a:p>
          <a:p>
            <a:endParaRPr lang="en-US" dirty="0"/>
          </a:p>
          <a:p>
            <a:r>
              <a:rPr lang="en-US" dirty="0"/>
              <a:t>Our proposed system provides a secure, centralized, and user-friendly solution with role-based access for Admin, Doctor,  and Patient.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7782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9536-0719-F2AD-88DC-B2A2D48BC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Problem Statement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166AE-7A2F-5C44-0288-1D0CDC7F3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 Manual record maintenance</a:t>
            </a:r>
          </a:p>
          <a:p>
            <a:endParaRPr lang="en-US" dirty="0"/>
          </a:p>
          <a:p>
            <a:r>
              <a:rPr lang="en-US" dirty="0"/>
              <a:t> Time-consuming appointment scheduling</a:t>
            </a:r>
          </a:p>
          <a:p>
            <a:endParaRPr lang="en-US" dirty="0"/>
          </a:p>
          <a:p>
            <a:r>
              <a:rPr lang="en-US" dirty="0"/>
              <a:t> Paper-based prescriptions</a:t>
            </a:r>
          </a:p>
          <a:p>
            <a:endParaRPr lang="en-US" dirty="0"/>
          </a:p>
          <a:p>
            <a:r>
              <a:rPr lang="en-US" dirty="0"/>
              <a:t> Billing errors</a:t>
            </a:r>
          </a:p>
          <a:p>
            <a:endParaRPr lang="en-US" dirty="0"/>
          </a:p>
          <a:p>
            <a:r>
              <a:rPr lang="en-US" dirty="0"/>
              <a:t> Difficulty in retrieving patient records</a:t>
            </a:r>
          </a:p>
          <a:p>
            <a:endParaRPr lang="en-US" dirty="0"/>
          </a:p>
          <a:p>
            <a:r>
              <a:rPr lang="en-US" dirty="0"/>
              <a:t> Lack of centralized data management</a:t>
            </a:r>
            <a:endParaRPr lang="en-IN" dirty="0"/>
          </a:p>
          <a:p>
            <a:endParaRPr lang="en-US" dirty="0"/>
          </a:p>
          <a:p>
            <a:r>
              <a:rPr lang="en-US" i="1" dirty="0"/>
              <a:t>Our project solves these problems by providing a fully digital hospital management system.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3437783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DFE08-1816-3A16-5809-2592B0EF0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Objectives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83B3C-BB4B-25D0-287C-81059EC4E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 Automate hospital operations</a:t>
            </a:r>
          </a:p>
          <a:p>
            <a:endParaRPr lang="en-US" dirty="0"/>
          </a:p>
          <a:p>
            <a:r>
              <a:rPr lang="en-US" dirty="0"/>
              <a:t> Maintain digital patient records</a:t>
            </a:r>
          </a:p>
          <a:p>
            <a:endParaRPr lang="en-US" dirty="0"/>
          </a:p>
          <a:p>
            <a:r>
              <a:rPr lang="en-US" dirty="0"/>
              <a:t> Simplify appointment booking</a:t>
            </a:r>
          </a:p>
          <a:p>
            <a:endParaRPr lang="en-US" dirty="0"/>
          </a:p>
          <a:p>
            <a:r>
              <a:rPr lang="en-US" dirty="0"/>
              <a:t> Generate bills automatically</a:t>
            </a:r>
          </a:p>
          <a:p>
            <a:endParaRPr lang="en-US" dirty="0"/>
          </a:p>
          <a:p>
            <a:r>
              <a:rPr lang="en-US" dirty="0"/>
              <a:t> Reduce paperwork</a:t>
            </a:r>
          </a:p>
          <a:p>
            <a:endParaRPr lang="en-US" dirty="0"/>
          </a:p>
          <a:p>
            <a:r>
              <a:rPr lang="en-US" dirty="0"/>
              <a:t> Improve communication between doctors and patients</a:t>
            </a:r>
          </a:p>
          <a:p>
            <a:endParaRPr lang="en-US" dirty="0"/>
          </a:p>
          <a:p>
            <a:r>
              <a:rPr lang="en-US" dirty="0"/>
              <a:t> Secure hospital data using role-based authentication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995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9BC8E-F6A5-602D-4BAB-58337F3A9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Methodology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59DFE-87A6-86CC-C1A8-90A77F712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1. Patient Registration and Login</a:t>
            </a:r>
          </a:p>
          <a:p>
            <a:r>
              <a:rPr lang="en-US" dirty="0"/>
              <a:t> 2. Admin manages Doctors and Patients</a:t>
            </a:r>
          </a:p>
          <a:p>
            <a:r>
              <a:rPr lang="en-US" dirty="0"/>
              <a:t> 3. Patient books an appointment</a:t>
            </a:r>
          </a:p>
          <a:p>
            <a:r>
              <a:rPr lang="en-US" dirty="0"/>
              <a:t> 4. Doctor accepts appointment</a:t>
            </a:r>
          </a:p>
          <a:p>
            <a:r>
              <a:rPr lang="en-US" dirty="0"/>
              <a:t> 5. Doctor provides diagnosis and prescription</a:t>
            </a:r>
          </a:p>
          <a:p>
            <a:r>
              <a:rPr lang="en-US" dirty="0"/>
              <a:t> 6. Bill is generated automatically</a:t>
            </a:r>
          </a:p>
          <a:p>
            <a:r>
              <a:rPr lang="en-US" dirty="0"/>
              <a:t> 7. Patient records are stored securely in MySQL database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7654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DDAE7-058E-2F23-4E54-AD90137F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Implementation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1B315-EACC-0566-E4D9-55E157AAC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17644"/>
            <a:ext cx="10972800" cy="5397759"/>
          </a:xfrm>
        </p:spPr>
        <p:txBody>
          <a:bodyPr/>
          <a:lstStyle/>
          <a:p>
            <a:r>
              <a:rPr lang="en-IN" b="1" dirty="0"/>
              <a:t>Frontend: </a:t>
            </a:r>
            <a:r>
              <a:rPr lang="en-IN" dirty="0"/>
              <a:t>HTML, CSS, JavaScript, Thymeleaf</a:t>
            </a:r>
          </a:p>
          <a:p>
            <a:endParaRPr lang="en-IN" dirty="0"/>
          </a:p>
          <a:p>
            <a:r>
              <a:rPr lang="en-IN" b="1" dirty="0"/>
              <a:t>Backend: </a:t>
            </a:r>
            <a:r>
              <a:rPr lang="en-IN" dirty="0"/>
              <a:t>Spring Boot, Spring MVC, Spring Security, Spring Data JPA</a:t>
            </a:r>
          </a:p>
          <a:p>
            <a:endParaRPr lang="en-IN" dirty="0"/>
          </a:p>
          <a:p>
            <a:r>
              <a:rPr lang="en-IN" b="1" dirty="0"/>
              <a:t>Database: </a:t>
            </a:r>
            <a:r>
              <a:rPr lang="en-IN" dirty="0"/>
              <a:t>MySQL</a:t>
            </a:r>
          </a:p>
          <a:p>
            <a:endParaRPr lang="en-IN" dirty="0"/>
          </a:p>
          <a:p>
            <a:r>
              <a:rPr lang="en-IN" b="1" dirty="0"/>
              <a:t>Development Tools: </a:t>
            </a:r>
            <a:r>
              <a:rPr lang="en-IN" dirty="0"/>
              <a:t>STS (Spring Tool Suite), MySQL Workbench, Maven, Git &amp; GitHub, Postman</a:t>
            </a:r>
          </a:p>
        </p:txBody>
      </p:sp>
    </p:spTree>
    <p:extLst>
      <p:ext uri="{BB962C8B-B14F-4D97-AF65-F5344CB8AC3E}">
        <p14:creationId xmlns:p14="http://schemas.microsoft.com/office/powerpoint/2010/main" val="1696504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9BC8E-F6A5-602D-4BAB-58337F3A9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Results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59DFE-87A6-86CC-C1A8-90A77F712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Secure login for different users</a:t>
            </a:r>
          </a:p>
          <a:p>
            <a:r>
              <a:rPr lang="en-US" dirty="0"/>
              <a:t> Easy appointment booking</a:t>
            </a:r>
          </a:p>
          <a:p>
            <a:r>
              <a:rPr lang="en-US" dirty="0"/>
              <a:t> Digital prescriptions</a:t>
            </a:r>
          </a:p>
          <a:p>
            <a:r>
              <a:rPr lang="en-US" dirty="0"/>
              <a:t> Automatic billing</a:t>
            </a:r>
          </a:p>
          <a:p>
            <a:r>
              <a:rPr lang="en-US" dirty="0"/>
              <a:t> Patient medical history</a:t>
            </a:r>
          </a:p>
          <a:p>
            <a:r>
              <a:rPr lang="en-US" dirty="0"/>
              <a:t> Fast retrieval of hospital records</a:t>
            </a:r>
          </a:p>
          <a:p>
            <a:r>
              <a:rPr lang="en-US" dirty="0"/>
              <a:t> Improved hospital efficiency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7654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4C325-1253-26A6-BAA2-A34E5FBD1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77C46-CB47-6C89-6F28-6D52E129B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B53A20-B743-01E6-4ADC-1C65FCD02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36078"/>
            <a:ext cx="8499764" cy="441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359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A0A14-ECC6-1E96-7501-C2D134DC3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675409"/>
            <a:ext cx="10972800" cy="5801591"/>
          </a:xfrm>
        </p:spPr>
        <p:txBody>
          <a:bodyPr/>
          <a:lstStyle/>
          <a:p>
            <a:r>
              <a:rPr lang="en-US" dirty="0"/>
              <a:t>Register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9DD7E1-0AD4-A281-8296-5C1CEAE58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63576"/>
            <a:ext cx="9611033" cy="446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430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E176E-2FE9-0F33-2275-5F465AB70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748145"/>
            <a:ext cx="10972800" cy="5728855"/>
          </a:xfrm>
        </p:spPr>
        <p:txBody>
          <a:bodyPr/>
          <a:lstStyle/>
          <a:p>
            <a:r>
              <a:rPr lang="en-US" dirty="0"/>
              <a:t>Patient dashboard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EAD909-D7DE-E0BE-68ED-8D1AB35C2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03447"/>
            <a:ext cx="8918864" cy="421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093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CD3E3-5995-68F7-FDD7-EFC458DC4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727364"/>
            <a:ext cx="10972800" cy="5749636"/>
          </a:xfrm>
        </p:spPr>
        <p:txBody>
          <a:bodyPr/>
          <a:lstStyle/>
          <a:p>
            <a:r>
              <a:rPr lang="en-US" dirty="0"/>
              <a:t>Doctor Dashboard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8C324C-285E-FB64-0BDA-0E36E39EC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55821"/>
            <a:ext cx="9428018" cy="434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612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3D74B-1207-95CB-10FB-832887290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Future Scope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DCCBE-CC6A-E31B-9747-AAE76EEC4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AI-based Disease Prediction</a:t>
            </a:r>
          </a:p>
          <a:p>
            <a:r>
              <a:rPr lang="en-US" dirty="0"/>
              <a:t> Online Payment Gateway</a:t>
            </a:r>
          </a:p>
          <a:p>
            <a:r>
              <a:rPr lang="en-US" dirty="0"/>
              <a:t> Video Consultation</a:t>
            </a:r>
          </a:p>
          <a:p>
            <a:r>
              <a:rPr lang="en-US" dirty="0"/>
              <a:t> Mobile Application</a:t>
            </a:r>
          </a:p>
          <a:p>
            <a:r>
              <a:rPr lang="en-US" dirty="0"/>
              <a:t> SMS &amp; Email Notifications</a:t>
            </a:r>
          </a:p>
          <a:p>
            <a:r>
              <a:rPr lang="en-US" dirty="0"/>
              <a:t> Cloud Deployment</a:t>
            </a:r>
          </a:p>
          <a:p>
            <a:r>
              <a:rPr lang="en-US" dirty="0"/>
              <a:t> QR Code for Patient Records</a:t>
            </a:r>
          </a:p>
          <a:p>
            <a:r>
              <a:rPr lang="en-US" dirty="0"/>
              <a:t> Laboratory Integration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1806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6DF51-D842-72B6-AF39-58E4FD378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</a:t>
            </a:r>
            <a:r>
              <a:rPr lang="en-US" dirty="0" err="1"/>
              <a:t>WorkFlow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639EEA-8EF8-6248-8C0F-9FB1DC52B6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1901" y="1524000"/>
            <a:ext cx="5668807" cy="532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657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0C491-469E-26B7-E15A-B6759D6EE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 </a:t>
            </a:r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2A884-1AB1-1A8E-0882-F92D03025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7800"/>
            <a:ext cx="10972800" cy="4876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 Spring Boot Documentation</a:t>
            </a:r>
          </a:p>
          <a:p>
            <a:endParaRPr lang="en-US" dirty="0"/>
          </a:p>
          <a:p>
            <a:r>
              <a:rPr lang="en-US" dirty="0"/>
              <a:t> MySQL Documentation</a:t>
            </a:r>
          </a:p>
          <a:p>
            <a:endParaRPr lang="en-US" dirty="0"/>
          </a:p>
          <a:p>
            <a:r>
              <a:rPr lang="en-US" dirty="0"/>
              <a:t> Thymeleaf Documentation</a:t>
            </a:r>
          </a:p>
          <a:p>
            <a:endParaRPr lang="en-US" dirty="0"/>
          </a:p>
          <a:p>
            <a:r>
              <a:rPr lang="en-US" dirty="0"/>
              <a:t> Oracle Java Documentation</a:t>
            </a:r>
          </a:p>
          <a:p>
            <a:endParaRPr lang="en-US" dirty="0"/>
          </a:p>
          <a:p>
            <a:r>
              <a:rPr lang="en-US" dirty="0"/>
              <a:t> HTML, CSS, JavaScript (MDN Web Docs)</a:t>
            </a:r>
          </a:p>
          <a:p>
            <a:endParaRPr lang="en-US" dirty="0"/>
          </a:p>
          <a:p>
            <a:r>
              <a:rPr lang="en-US" dirty="0"/>
              <a:t> Spring Security Documentation</a:t>
            </a:r>
          </a:p>
          <a:p>
            <a:endParaRPr lang="en-US" dirty="0"/>
          </a:p>
          <a:p>
            <a:r>
              <a:rPr lang="en-US" dirty="0"/>
              <a:t> GitHub Documentation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5914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533E1-275A-0F32-FC66-3D8F955D0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77317-EF95-20C1-937C-40A113ABE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Smart Hospital Management System provides a secure, efficient, and user-friendly solution for hospital operations.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It reduces manual work, improves data accuracy, saves time, and enhances communication between patients and healthcare providers.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3452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593E-9CCE-4C44-9E3C-FD98DFA0D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75208"/>
            <a:ext cx="11140844" cy="6098959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en-IN" sz="2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9121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541</TotalTime>
  <Words>598</Words>
  <Application>Microsoft Office PowerPoint</Application>
  <PresentationFormat>Widescreen</PresentationFormat>
  <Paragraphs>113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Times New Roman</vt:lpstr>
      <vt:lpstr>Wingdings</vt:lpstr>
      <vt:lpstr>Clarity</vt:lpstr>
      <vt:lpstr>                                                                                                  Department of Computer Science &amp; Engineering                      Smart Hospital Management System                                                                                                                                                                                                                                                                                       1.  CH. SREE VATSAV                                                                                                                                     2. C.RITHIK                                                                                                            3.ASAR.ABUZAR  </vt:lpstr>
      <vt:lpstr>Table of Contents</vt:lpstr>
      <vt:lpstr>Introduction </vt:lpstr>
      <vt:lpstr>Literature Review </vt:lpstr>
      <vt:lpstr>Problem Statement </vt:lpstr>
      <vt:lpstr>Objectives </vt:lpstr>
      <vt:lpstr>Methodology </vt:lpstr>
      <vt:lpstr>Implementation </vt:lpstr>
      <vt:lpstr>Results </vt:lpstr>
      <vt:lpstr>Screenshots</vt:lpstr>
      <vt:lpstr>PowerPoint Presentation</vt:lpstr>
      <vt:lpstr>PowerPoint Presentation</vt:lpstr>
      <vt:lpstr>PowerPoint Presentation</vt:lpstr>
      <vt:lpstr>Future Scope </vt:lpstr>
      <vt:lpstr>Project WorkFlow</vt:lpstr>
      <vt:lpstr> References</vt:lpstr>
      <vt:lpstr> 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TALLA PADMAVATHI COLLEGE OF Engineering                       SOMIDI, KAZIPET, WARANGAL.       Department of electronics and communication engineering   Research area : VLSI                             Specific area of research: LOW POWER VLSIDESIGN     Proposed title name of the project:                    AN APC-COM BASED LUT OPTIMIZATION FOR DSP APPLICATIONS                                                                                                                                                           Batch no.1                                                                                                                                                                  1. 18UC1A0420 (N.Sravani)                                                                                                                                                                  2.18UC1A0401 (A.Swapna)                                                                                                                                3.18UC1A0428 (T.Satvika)                                                                                                                                                               4.17UC1A0405(E.Mahesh)</dc:title>
  <dc:creator>sravani neelam</dc:creator>
  <cp:lastModifiedBy>sree vatsav</cp:lastModifiedBy>
  <cp:revision>61</cp:revision>
  <dcterms:created xsi:type="dcterms:W3CDTF">2021-11-21T08:56:41Z</dcterms:created>
  <dcterms:modified xsi:type="dcterms:W3CDTF">2026-07-18T08:45:40Z</dcterms:modified>
</cp:coreProperties>
</file>